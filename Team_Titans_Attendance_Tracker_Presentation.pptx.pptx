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Plus Jakarta Sans"/>
      <ns0:bold ns1:id="rIdFont22"/>
      <ns0:italic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dc372bd2-d301-4096-9d34-4656ae645e62.fntdata" /><ns0:Relationship Id="rIdFont23" Type="http://schemas.openxmlformats.org/officeDocument/2006/relationships/font" Target="fonts/2f290583-ae0e-4f11-bcf7-8b3741011257.fntdata" /><ns0:Relationship Id="rIdFont24" Type="http://schemas.openxmlformats.org/officeDocument/2006/relationships/font" Target="fonts/150ced2e-8074-400c-a28f-61a5be361e1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31034"/>
            <a:ext cx="1097280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06529"/>
            <a:ext cx="10972800" cy="556021"/>
          </a:xfrm>
          <a:prstGeom prst="roundRect">
            <a:avLst>
              <a:gd name="adj" fmla="val 1027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09595" y="495300"/>
            <a:ext cx="2672804" cy="38100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746944"/>
            <a:ext cx="2419350" cy="27622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35086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231034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35302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5806529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5806529"/>
            <a:ext cx="38100" cy="55602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5806529"/>
            <a:ext cx="9525" cy="55602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570" y="600075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823144"/>
            <a:ext cx="1047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69184"/>
            <a:ext cx="1143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50" y="4669184"/>
            <a:ext cx="11430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775" y="4669184"/>
            <a:ext cx="114300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2175569"/>
            <a:ext cx="11582400" cy="565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b="1" sz="4050" i="0" u="none">
                <a:solidFill>
                  <a:srgbClr val="F8FAFC"/>
                </a:solidFill>
                <a:latin typeface="Plus Jakarta Sans"/>
              </a:rPr>
              <a:t>ATTENDANCE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893665"/>
            <a:ext cx="11582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lus Jakarta Sans"/>
              </a:rPr>
              <a:t>An Agile-Based Student Attendance Management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150" y="4612034"/>
            <a:ext cx="200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Academic Year 2024–2025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6022627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8BDF8"/>
                </a:solidFill>
                <a:latin typeface="Plus Jakarta Sans"/>
              </a:rPr>
              <a:t>SPEAKER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7482" y="5911304"/>
            <a:ext cx="97482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Good morning respected faculty. We are Team Titans from Second Year B.E. Computer Science and Engineering, presenting our mini-project: Attendance Tracker — an Agile-based student attendance prototype.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95300"/>
            <a:ext cx="5834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S.A. ENGINEERING COLLEGE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33425"/>
            <a:ext cx="5834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Department of Computer Science and Engineering • Second Year B.E. CSE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5845" y="614362"/>
            <a:ext cx="251947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[COLLEGE LOGO PLACEHOLDER]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1813619"/>
            <a:ext cx="24407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MINI-PROJECT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431059"/>
            <a:ext cx="4321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TEAM NAME: TEAM TITANS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4640609"/>
            <a:ext cx="1219200" cy="17145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1F5F9"/>
                </a:solidFill>
                <a:latin typeface="Plus Jakarta Sans"/>
              </a:rPr>
              <a:t>S. LAVANYA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3550" y="4640609"/>
            <a:ext cx="1535906" cy="17145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1F5F9"/>
                </a:solidFill>
                <a:latin typeface="Plus Jakarta Sans"/>
              </a:rPr>
              <a:t>S. MADHUMITHA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2775" y="4640609"/>
            <a:ext cx="1200150" cy="17145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1F5F9"/>
                </a:solidFill>
                <a:latin typeface="Plus Jakarta Sans"/>
              </a:rPr>
              <a:t>M. KAVITHA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508200"/>
            <a:ext cx="3530649" cy="2158007"/>
          </a:xfrm>
          <a:prstGeom prst="roundRect">
            <a:avLst>
              <a:gd name="adj" fmla="val 52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508200"/>
            <a:ext cx="3530649" cy="2158007"/>
          </a:xfrm>
          <a:prstGeom prst="roundRect">
            <a:avLst>
              <a:gd name="adj" fmla="val 52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2508200"/>
            <a:ext cx="3530649" cy="2158007"/>
          </a:xfrm>
          <a:prstGeom prst="roundRect">
            <a:avLst>
              <a:gd name="adj" fmla="val 52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84425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2784425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2784425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" y="2889200"/>
            <a:ext cx="1619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74" y="2889200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811" y="2889200"/>
            <a:ext cx="23812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500" y="75813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02 /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In academic institutions, daily attendance monitoring is critical. Our digital prototype demonstrates how front-end web technologies simplify recording and computing student attendance in real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9100"/>
            <a:ext cx="5917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CONTEXT &amp; 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09600"/>
            <a:ext cx="621327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Introduction to Attendance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317825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Institutional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670250"/>
            <a:ext cx="30734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Essential for academic compliance, student progress evaluation, and classroom discipline.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6974" y="3317825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Digital 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6974" y="3670250"/>
            <a:ext cx="30734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Replaces cumbersome paper registers with responsive web-based interaction.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324" y="3317825"/>
            <a:ext cx="3787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Instant Calculation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324" y="3670250"/>
            <a:ext cx="30734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Automates headcount tallies and real-time attendance rate percentages.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287041"/>
            <a:ext cx="5410200" cy="2600325"/>
          </a:xfrm>
          <a:prstGeom prst="roundRect">
            <a:avLst>
              <a:gd name="adj" fmla="val 4395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87054"/>
            <a:ext cx="5410200" cy="2400300"/>
          </a:xfrm>
          <a:prstGeom prst="roundRect">
            <a:avLst>
              <a:gd name="adj" fmla="val 4761"/>
            </a:avLst>
          </a:prstGeom>
          <a:solidFill>
            <a:srgbClr val="F0FDF4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24625" y="3958679"/>
            <a:ext cx="4857750" cy="552450"/>
          </a:xfrm>
          <a:prstGeom prst="roundRect">
            <a:avLst>
              <a:gd name="adj" fmla="val 10344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601366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701379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29975" y="75813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03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Manual paper registers lead to calculation errors and consume valuable classroom instruction time. Our prototype explores a clean digital front-end solution without claiming to be a complete enterprise 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19100"/>
            <a:ext cx="3190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CURRENT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09600"/>
            <a:ext cx="335041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563266"/>
            <a:ext cx="6375796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Manual Attendance Pain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2663279"/>
            <a:ext cx="5667375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Project Focus &amp;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053804"/>
            <a:ext cx="4953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4532D"/>
                </a:solidFill>
                <a:latin typeface="Plus Jakarta Sans"/>
              </a:rPr>
              <a:t>This mini-project evaluates an interactive digital front-end prototype designed to streamline attendance marking and summary calculation.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7975" y="4053929"/>
            <a:ext cx="46863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Note: Designed as an educational prototype, not an institutional enterprise ERP.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953791"/>
            <a:ext cx="6072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50A0A"/>
                </a:solidFill>
                <a:latin typeface="Plus Jakarta Sans"/>
              </a:rPr>
              <a:t>Time Consumption:</a:t>
            </a:r>
            <a:r>
              <a:rPr b="0" sz="1350" i="0" u="none">
                <a:solidFill>
                  <a:srgbClr val="450A0A"/>
                </a:solidFill>
                <a:latin typeface="Plus Jakarta Sans"/>
              </a:rPr>
              <a:t> Lengthy roll-call routines in class.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287166"/>
            <a:ext cx="4953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50A0A"/>
                </a:solidFill>
                <a:latin typeface="Plus Jakarta Sans"/>
              </a:rPr>
              <a:t>Arithmetic Errors:</a:t>
            </a:r>
            <a:r>
              <a:rPr b="0" sz="1350" i="0" u="none">
                <a:solidFill>
                  <a:srgbClr val="450A0A"/>
                </a:solidFill>
                <a:latin typeface="Plus Jakarta Sans"/>
              </a:rPr>
              <a:t> Frequent mistakes in manual percentage calculation.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3839616"/>
            <a:ext cx="4953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50A0A"/>
                </a:solidFill>
                <a:latin typeface="Plus Jakarta Sans"/>
              </a:rPr>
              <a:t>Slow Verification:</a:t>
            </a:r>
            <a:r>
              <a:rPr b="0" sz="1350" i="0" u="none">
                <a:solidFill>
                  <a:srgbClr val="450A0A"/>
                </a:solidFill>
                <a:latin typeface="Plus Jakarta Sans"/>
              </a:rPr>
              <a:t> Tedious page-by-page register searches.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392066"/>
            <a:ext cx="6072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50A0A"/>
                </a:solidFill>
                <a:latin typeface="Plus Jakarta Sans"/>
              </a:rPr>
              <a:t>Physical Damage:</a:t>
            </a:r>
            <a:r>
              <a:rPr b="0" sz="1350" i="0" u="none">
                <a:solidFill>
                  <a:srgbClr val="450A0A"/>
                </a:solidFill>
                <a:latin typeface="Plus Jakarta Sans"/>
              </a:rPr>
              <a:t> Loss or degradation of paper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272754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272754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2968079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968079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" y="3663404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3663404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4358729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4358729"/>
            <a:ext cx="5448300" cy="542925"/>
          </a:xfrm>
          <a:prstGeom prst="roundRect">
            <a:avLst>
              <a:gd name="adj" fmla="val 1403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448966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448966"/>
            <a:ext cx="23812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144291"/>
            <a:ext cx="1428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3144291"/>
            <a:ext cx="1524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839616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3839616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4534941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4534941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29975" y="75813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04 /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Our core objectives center on creating a responsive interface, automating percentage metrics, evaluating client-side local storage, and following structured Agile engineering practices.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19100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GOALS &amp; DELIVERABLES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09600"/>
            <a:ext cx="3200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" y="2434679"/>
            <a:ext cx="3667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1. Build a clean attendance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3700" y="2434679"/>
            <a:ext cx="4357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2. Enable Present / Absent status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3130004"/>
            <a:ext cx="4345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3. Compute automatic student summaries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7975" y="3130004"/>
            <a:ext cx="4417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4. Display dynamic attendance percentage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3825329"/>
            <a:ext cx="3893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5. Provide fast student search filtering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7025" y="3825329"/>
            <a:ext cx="4572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6. Explore browser localStorage persistence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175" y="4520654"/>
            <a:ext cx="4429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7. Apply Agile SDLC development practices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6075" y="4520654"/>
            <a:ext cx="4655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8. Execute unit test checks &amp; document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396579"/>
            <a:ext cx="1112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3834854"/>
            <a:ext cx="11125200" cy="942975"/>
          </a:xfrm>
          <a:prstGeom prst="roundRect">
            <a:avLst>
              <a:gd name="adj" fmla="val 808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3834854"/>
            <a:ext cx="38100" cy="942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365" y="2915691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605" y="2915691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845" y="2915691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0085" y="2915691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770" y="2634704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010" y="2634704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251" y="2634704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7491" y="2634704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7731" y="2634704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6308" y="2768054"/>
            <a:ext cx="2381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360" y="2768054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6788" y="2768054"/>
            <a:ext cx="2381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0366" y="2768054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1081" y="2768054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29975" y="75813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05 /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This slide illustrates our system flow. The faculty selects attendance, JavaScript calculates the percentage instantly, and browser localStorage holds records locally. No server or remote database is used.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419100"/>
            <a:ext cx="6310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ARCHITECTURE &amp; CONCEPT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09600"/>
            <a:ext cx="662582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Proposed Solution &amp; System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544" y="2634704"/>
            <a:ext cx="2509800" cy="733425"/>
          </a:xfrm>
          <a:prstGeom prst="rect">
            <a:avLst/>
          </a:prstGeom>
          <a:noFill/>
        </p:spPr>
        <p:txBody>
          <a:bodyPr wrap="square" lIns="2007839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User / Teacher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0785" y="2634704"/>
            <a:ext cx="2509800" cy="733425"/>
          </a:xfrm>
          <a:prstGeom prst="rect">
            <a:avLst/>
          </a:prstGeom>
          <a:noFill/>
        </p:spPr>
        <p:txBody>
          <a:bodyPr wrap="square" lIns="2007839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Tracker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1025" y="2634704"/>
            <a:ext cx="2509800" cy="733425"/>
          </a:xfrm>
          <a:prstGeom prst="rect">
            <a:avLst/>
          </a:prstGeom>
          <a:noFill/>
        </p:spPr>
        <p:txBody>
          <a:bodyPr wrap="square" lIns="2007839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JS Calculations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1265" y="2634704"/>
            <a:ext cx="2509800" cy="733425"/>
          </a:xfrm>
          <a:prstGeom prst="rect">
            <a:avLst/>
          </a:prstGeom>
          <a:noFill/>
        </p:spPr>
        <p:txBody>
          <a:bodyPr wrap="square" lIns="2007839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Dynamic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1505" y="2634704"/>
            <a:ext cx="2509800" cy="733425"/>
          </a:xfrm>
          <a:prstGeom prst="rect">
            <a:avLst/>
          </a:prstGeom>
          <a:noFill/>
        </p:spPr>
        <p:txBody>
          <a:bodyPr wrap="square" lIns="2007839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localStorage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3987254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Technical Architectural Distinction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225379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E3A8A"/>
                </a:solidFill>
                <a:latin typeface="Plus Jakarta Sans"/>
              </a:rPr>
              <a:t>The prototype saves attendance locally in browser memory (Web Storage API). It operates without a centralized server, relational database (e.g. MySQL), or cloud back-end.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439441"/>
            <a:ext cx="542925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568029"/>
            <a:ext cx="542925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15666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844254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500" y="75813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06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We categorized our scope into clear functional features such as status toggling and calculation, alongside non-functional requirements prioritizing interface responsiveness, usability, and clean modular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19100"/>
            <a:ext cx="3738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09600"/>
            <a:ext cx="392549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Scope &amp;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2677566"/>
            <a:ext cx="6500812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Functional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2806154"/>
            <a:ext cx="572452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Non-Functional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029991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Display sample student roster (Students A–F)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287166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Present and Absent attendance status toggles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544341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Dynamic calculation of attendance percentages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801516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Student name text filter/search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4058691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Bulk actions: Mark All Present &amp; Clear Selections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4315866"/>
            <a:ext cx="6191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Save attendance state to localStorage &amp; review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3158579"/>
            <a:ext cx="5724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Clean UI: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Clear typography and visual cues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3415754"/>
            <a:ext cx="5724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High Usability: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Intuitive one-click attendance marking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7475" y="3672929"/>
            <a:ext cx="5724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Responsive Performance: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Zero perceptible calculation 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3930104"/>
            <a:ext cx="5724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Code Modularity: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Separated HTML, CSS, and JS layers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475" y="4187279"/>
            <a:ext cx="5724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Prototype Scope: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Focused purely on client-side proof-of-concept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139404"/>
            <a:ext cx="3581400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05300" y="2139404"/>
            <a:ext cx="3581400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139404"/>
            <a:ext cx="3581400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3682454"/>
            <a:ext cx="3581400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05300" y="3682454"/>
            <a:ext cx="3581400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7200" y="3682454"/>
            <a:ext cx="3581400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2339429"/>
            <a:ext cx="200025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2339429"/>
            <a:ext cx="20002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25" y="2339429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882479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325" y="3882479"/>
            <a:ext cx="3143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225" y="3882479"/>
            <a:ext cx="257175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500" y="75813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07 /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Our stack is purely front-end focused: vanilla HTML, CSS, and JavaScript with browser localStorage. Version control and task organization were handled via Git and GitHub in Visual Studio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19100"/>
            <a:ext cx="5655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DEVELOPMENT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09600"/>
            <a:ext cx="593824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Technologies &amp; Development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2682329"/>
            <a:ext cx="417552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HTML5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" y="2949029"/>
            <a:ext cx="327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Provides document structure and form elements for the attendance interface.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5325" y="2682329"/>
            <a:ext cx="417552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CSS3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5325" y="2949029"/>
            <a:ext cx="327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Controls styling, responsive layouts, color indicators, and typography.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7225" y="2682329"/>
            <a:ext cx="39147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JavaScript (ES6)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7225" y="2949029"/>
            <a:ext cx="327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Drives DOM events, dynamic summary math, and client-side logic.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" y="4206329"/>
            <a:ext cx="417552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Browser localStorage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425" y="4473029"/>
            <a:ext cx="327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Retains attendance logs locally without requiring a dedicated SQL database.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5325" y="4206329"/>
            <a:ext cx="417552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Visual Studio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5325" y="4473029"/>
            <a:ext cx="327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Primary integrated development environment used for code editing and debugging.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7225" y="4225379"/>
            <a:ext cx="39147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Git &amp; 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7225" y="4492079"/>
            <a:ext cx="327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Facilitates version control, team collaboration, and Agile task 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839491"/>
            <a:ext cx="1592312" cy="1495425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40037" y="2839491"/>
            <a:ext cx="1592312" cy="1495425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6674" y="2839491"/>
            <a:ext cx="1592312" cy="1495425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3311" y="2915691"/>
            <a:ext cx="1592312" cy="1343025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59948" y="2839491"/>
            <a:ext cx="1592312" cy="1495425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66585" y="2839491"/>
            <a:ext cx="1592312" cy="1495425"/>
          </a:xfrm>
          <a:prstGeom prst="roundRect">
            <a:avLst>
              <a:gd name="adj" fmla="val 63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58031" y="302046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64668" y="302046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71305" y="302046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77942" y="309666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84580" y="302046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91217" y="302046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12" y="3520529"/>
            <a:ext cx="8572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649" y="3520529"/>
            <a:ext cx="8572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286" y="3520529"/>
            <a:ext cx="8572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923" y="3520529"/>
            <a:ext cx="8572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560" y="3520529"/>
            <a:ext cx="85725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29975" y="75813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08 /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We selected the Agile model because it allows iterative progress. Breaking the work into sequential increments helped us build the user interface, verify logic, and review outcomes collaboratively.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419100"/>
            <a:ext cx="2869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09600"/>
            <a:ext cx="301287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Agile SDLC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156" y="302046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124" y="3458616"/>
            <a:ext cx="17148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954" y="3696741"/>
            <a:ext cx="1633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Defined scope, user stories, and team tasks.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1793" y="302046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8761" y="3458616"/>
            <a:ext cx="17148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9591" y="3696741"/>
            <a:ext cx="1633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Prepared UI wireframes and user flows.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430" y="302046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5398" y="3458616"/>
            <a:ext cx="17148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6228" y="3696741"/>
            <a:ext cx="1633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Coded the HTML, CSS, and JS components.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5067" y="309666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2035" y="3534816"/>
            <a:ext cx="17148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2866" y="3772941"/>
            <a:ext cx="163320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Executed manual tests and noted limits.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705" y="302046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8673" y="3458616"/>
            <a:ext cx="17148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9503" y="3696741"/>
            <a:ext cx="1633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Demonstrated prototype across the team.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48342" y="3020466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125" i="0" u="none">
                <a:solidFill>
                  <a:srgbClr val="0284C7"/>
                </a:solidFill>
                <a:latin typeface="Plus Jakarta San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05310" y="3458616"/>
            <a:ext cx="17148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Feedback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6140" y="3696741"/>
            <a:ext cx="16332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Documented enhancements for next sprint.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415629"/>
            <a:ext cx="5883026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83126" y="2720429"/>
            <a:ext cx="4975473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2475" y="2958554"/>
            <a:ext cx="5444876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2475" y="3377654"/>
            <a:ext cx="5444876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2475" y="3796754"/>
            <a:ext cx="5444876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2475" y="4215854"/>
            <a:ext cx="5444876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02201" y="3530054"/>
            <a:ext cx="1461641" cy="704850"/>
          </a:xfrm>
          <a:prstGeom prst="roundRect">
            <a:avLst>
              <a:gd name="adj" fmla="val 8108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40042" y="3530054"/>
            <a:ext cx="1461641" cy="704850"/>
          </a:xfrm>
          <a:prstGeom prst="roundRect">
            <a:avLst>
              <a:gd name="adj" fmla="val 8108"/>
            </a:avLst>
          </a:prstGeom>
          <a:solidFill>
            <a:srgbClr val="FED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77883" y="3530054"/>
            <a:ext cx="1461641" cy="704850"/>
          </a:xfrm>
          <a:prstGeom prst="roundRect">
            <a:avLst>
              <a:gd name="adj" fmla="val 8108"/>
            </a:avLst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78401" y="3901529"/>
            <a:ext cx="1309241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16242" y="3901529"/>
            <a:ext cx="1309241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4083" y="3901529"/>
            <a:ext cx="1309241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663279"/>
            <a:ext cx="2000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201" y="2968079"/>
            <a:ext cx="152400" cy="161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500" y="75813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09 /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Our user stories helped us clarify teacher requirements. We tracked each task on our GitHub Project Board across To Do, In Progress, and Done columns to maintain team accountability.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19100"/>
            <a:ext cx="4988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AGILE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09600"/>
            <a:ext cx="523815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Project Planning &amp; User Stories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2634704"/>
            <a:ext cx="7146401" cy="20955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284C7"/>
                </a:solidFill>
                <a:latin typeface="Plus Jakarta Sans"/>
              </a:rPr>
              <a:t>Core User 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2201" y="2939504"/>
            <a:ext cx="5289798" cy="20955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284C7"/>
                </a:solidFill>
                <a:latin typeface="Plus Jakarta Sans"/>
              </a:rPr>
              <a:t>GitHub Project Board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2201" y="3263354"/>
            <a:ext cx="528979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Board: </a:t>
            </a:r>
            <a:r>
              <a:rPr b="0" sz="975" i="1" u="none">
                <a:solidFill>
                  <a:srgbClr val="64748B"/>
                </a:solidFill>
                <a:latin typeface="Plus Jakarta Sans"/>
              </a:rPr>
              <a:t>Titans - Attendance 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5696" y="3625304"/>
            <a:ext cx="1674651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475569"/>
                </a:solidFill>
                <a:latin typeface="Plus Jakarta Sans"/>
              </a:rPr>
              <a:t>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3537" y="3625304"/>
            <a:ext cx="1674651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9A3412"/>
                </a:solidFill>
                <a:latin typeface="Plus Jakarta Sans"/>
              </a:rPr>
              <a:t>In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1378" y="3625304"/>
            <a:ext cx="1674651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66534"/>
                </a:solidFill>
                <a:latin typeface="Plus Jakarta Sans"/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300" y="3044279"/>
            <a:ext cx="649653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US1: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Mark students Present or Absent to log attendance status.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" y="3463379"/>
            <a:ext cx="649653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US2: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View attendance summary to check headcount tallies immediately.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300" y="3882479"/>
            <a:ext cx="649653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US3: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Search for students by name to filter displayed records rapidly.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" y="4301579"/>
            <a:ext cx="649653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US4: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Save records locally to retain data across browser sessions.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1896" y="3958679"/>
            <a:ext cx="1522251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Cloud 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9737" y="3958679"/>
            <a:ext cx="1522251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A3412"/>
                </a:solidFill>
                <a:latin typeface="Plus Jakarta Sans"/>
              </a:rPr>
              <a:t>Final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7578" y="3958679"/>
            <a:ext cx="1522251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166534"/>
                </a:solidFill>
                <a:latin typeface="Plus Jakarta Sans"/>
              </a:rPr>
              <a:t>Prototype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796754"/>
            <a:ext cx="11125200" cy="466725"/>
          </a:xfrm>
          <a:prstGeom prst="roundRect">
            <a:avLst>
              <a:gd name="adj" fmla="val 163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3400" y="2910929"/>
            <a:ext cx="1647825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8875" y="2910929"/>
            <a:ext cx="1647825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4350" y="2910929"/>
            <a:ext cx="1647825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9825" y="2910929"/>
            <a:ext cx="1647825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5300" y="2910929"/>
            <a:ext cx="1647825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10775" y="2910929"/>
            <a:ext cx="1647825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3182391"/>
            <a:ext cx="952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182391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3182391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3182391"/>
            <a:ext cx="952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325" y="3182391"/>
            <a:ext cx="952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580" y="3972966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677" y="3972966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649" y="3972966"/>
            <a:ext cx="133350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58550" y="758130"/>
            <a:ext cx="685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10 /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The workflow represents a seamless teacher routine: opening the application, marking statuses, watching summary figures compute dynamically, and utilizing utility actions like search and batch marking.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419100"/>
            <a:ext cx="2917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OPERATION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09600"/>
            <a:ext cx="306288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System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671" y="3044279"/>
            <a:ext cx="186928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8146" y="3044279"/>
            <a:ext cx="186928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3621" y="3044279"/>
            <a:ext cx="186928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9096" y="3044279"/>
            <a:ext cx="186928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4571" y="3044279"/>
            <a:ext cx="186928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0046" y="3044279"/>
            <a:ext cx="186928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0580" y="3944391"/>
            <a:ext cx="2262187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Live Student Search 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3691" y="3930104"/>
            <a:ext cx="33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4677" y="3944391"/>
            <a:ext cx="1964531" cy="17145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Quick Mark All 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9663" y="3930104"/>
            <a:ext cx="33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|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0649" y="3944391"/>
            <a:ext cx="1750218" cy="17145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Clear All Selections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390" y="3291929"/>
            <a:ext cx="1797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Open 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3865" y="3291929"/>
            <a:ext cx="1797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View Student Roster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9340" y="3291929"/>
            <a:ext cx="1797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Mark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815" y="3291929"/>
            <a:ext cx="1797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JS Auto-Calculates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0290" y="3291929"/>
            <a:ext cx="1797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Review Summary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5765" y="3291929"/>
            <a:ext cx="1797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Save / View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291530"/>
            <a:ext cx="11125200" cy="4591347"/>
          </a:xfrm>
          <a:prstGeom prst="roundRect">
            <a:avLst>
              <a:gd name="adj" fmla="val 207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50" y="3755528"/>
            <a:ext cx="10706100" cy="10001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2504479"/>
            <a:ext cx="25908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8050" y="2504479"/>
            <a:ext cx="25908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150" y="2504479"/>
            <a:ext cx="25908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58250" y="2504479"/>
            <a:ext cx="25908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1501080"/>
            <a:ext cx="1219200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01250" y="1501080"/>
            <a:ext cx="7429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39450" y="1501080"/>
            <a:ext cx="609600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72500" y="5416153"/>
            <a:ext cx="1304925" cy="257175"/>
          </a:xfrm>
          <a:prstGeom prst="roundRect">
            <a:avLst>
              <a:gd name="adj" fmla="val 1481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72675" y="5416153"/>
            <a:ext cx="1476375" cy="257175"/>
          </a:xfrm>
          <a:prstGeom prst="roundRect">
            <a:avLst>
              <a:gd name="adj" fmla="val 14814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96650" y="758130"/>
            <a:ext cx="647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11 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This slide presents our conceptual wireframe. It maps out the dashboard title, real-time KPI metrics at the top, student rows with toggle buttons, search bar, and localStorage persistence triggers.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19100"/>
            <a:ext cx="5595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USER INTERFACE 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09600"/>
            <a:ext cx="587573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Wireframe &amp; User Interface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1510605"/>
            <a:ext cx="6274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ATTENDANCE TRACKER DASHBOARD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900" i="0" u="none">
                <a:solidFill>
                  <a:srgbClr val="64748B"/>
                </a:solidFill>
                <a:latin typeface="Plus Jakarta Sans"/>
              </a:rPr>
              <a:t>[Class: II B.E. CSE • Date: DD/MM/YYYY]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2580679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Total Students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8500" y="2580679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16A34A"/>
                </a:solidFill>
                <a:latin typeface="Plus Jakarta Sans"/>
              </a:rPr>
              <a:t>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580679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DC2626"/>
                </a:solidFill>
                <a:latin typeface="Plus Jakarta Sans"/>
              </a:rPr>
              <a:t>Absent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8700" y="2580679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0284C7"/>
                </a:solidFill>
                <a:latin typeface="Plus Jakarta Sans"/>
              </a:rPr>
              <a:t>Attendance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5473303"/>
            <a:ext cx="3214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1" u="none">
                <a:solidFill>
                  <a:srgbClr val="64748B"/>
                </a:solidFill>
                <a:latin typeface="Plus Jakarta Sans"/>
              </a:rPr>
              <a:t>* Conceptual Wireframe Layout Representation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1100" y="1539180"/>
            <a:ext cx="1085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[Search Input Box]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5550" y="1539180"/>
            <a:ext cx="609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[Mark All]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3750" y="1539180"/>
            <a:ext cx="476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Plus Jakarta Sans"/>
              </a:rPr>
              <a:t>[Clear]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881" y="2790229"/>
            <a:ext cx="2928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8981" y="2790229"/>
            <a:ext cx="2928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6A34A"/>
                </a:solidFill>
                <a:latin typeface="Plus Jakarta San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4081" y="2790229"/>
            <a:ext cx="2928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DC2626"/>
                </a:solidFill>
                <a:latin typeface="Plus Jakarta San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9181" y="2790229"/>
            <a:ext cx="2928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~17%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775" y="3879353"/>
            <a:ext cx="1238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Student Identifier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5050" y="3879353"/>
            <a:ext cx="17502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Status Selection Controls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775" y="4146053"/>
            <a:ext cx="8477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Student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500" y="4146053"/>
            <a:ext cx="1535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[ Present ]   [ Absent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775" y="4422278"/>
            <a:ext cx="1607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Student B ... Student 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2700" y="4422278"/>
            <a:ext cx="1440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[ Present ]   [ Absent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850" y="5473303"/>
            <a:ext cx="1133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[Save Attendance]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6025" y="5473303"/>
            <a:ext cx="13049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[View Saved Records]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63158" y="2401341"/>
            <a:ext cx="5195441" cy="2371725"/>
          </a:xfrm>
          <a:prstGeom prst="roundRect">
            <a:avLst>
              <a:gd name="adj" fmla="val 4819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3400" y="2096541"/>
            <a:ext cx="5663058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3134766"/>
            <a:ext cx="5663058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3400" y="4172991"/>
            <a:ext cx="5663058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01283" y="3525291"/>
            <a:ext cx="2321421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905" y="3525291"/>
            <a:ext cx="2321569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01283" y="3887241"/>
            <a:ext cx="2321421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905" y="3887241"/>
            <a:ext cx="2321569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01283" y="4249191"/>
            <a:ext cx="2321421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905" y="4249191"/>
            <a:ext cx="2321569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283" y="2668041"/>
            <a:ext cx="2000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272754"/>
            <a:ext cx="1333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310979"/>
            <a:ext cx="1905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4349204"/>
            <a:ext cx="1333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77600" y="758130"/>
            <a:ext cx="666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12 /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Our codebase is neatly modularized into three classic files: index.html for structure, style.css for design, and script.js for business logic, populated with a test dataset of six students.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19100"/>
            <a:ext cx="4357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CODE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09600"/>
            <a:ext cx="457557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Prototype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1283" y="2639466"/>
            <a:ext cx="5490716" cy="20955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369A1"/>
                </a:solidFill>
                <a:latin typeface="Plus Jakarta Sans"/>
              </a:rPr>
              <a:t>Demonstration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1283" y="2963316"/>
            <a:ext cx="4814441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0C4A6E"/>
                </a:solidFill>
                <a:latin typeface="Plus Jakarta Sans"/>
              </a:rPr>
              <a:t>The prototype currently initializes with a sample roster of six simulated student profiles: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325" y="2496591"/>
            <a:ext cx="543445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Renders semantic structure: header, metrics banner, student list table, and action buttons.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325" y="3534816"/>
            <a:ext cx="543445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Provides clean card layouts, badge styling, status colors (green/red), and responsive alignment.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325" y="4573041"/>
            <a:ext cx="543445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Handles DOM event listeners, recalculates summary counts, filters names, and manages localStorage.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6533" y="3582441"/>
            <a:ext cx="2226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Student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4155" y="3582441"/>
            <a:ext cx="222631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Student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6533" y="3944391"/>
            <a:ext cx="2226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Student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4155" y="3944391"/>
            <a:ext cx="222631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Student 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6533" y="4306341"/>
            <a:ext cx="222617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Student 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4155" y="4306341"/>
            <a:ext cx="222631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Plus Jakarta Sans"/>
              </a:rPr>
              <a:t>Student 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25" y="2258466"/>
            <a:ext cx="11401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index.html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75" y="3296691"/>
            <a:ext cx="1000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style.css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925" y="4334916"/>
            <a:ext cx="94011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script.js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463254"/>
            <a:ext cx="5886450" cy="2247900"/>
          </a:xfrm>
          <a:prstGeom prst="roundRect">
            <a:avLst>
              <a:gd name="adj" fmla="val 5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86550" y="2544216"/>
            <a:ext cx="4972050" cy="2085975"/>
          </a:xfrm>
          <a:prstGeom prst="roundRect">
            <a:avLst>
              <a:gd name="adj" fmla="val 547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86575" y="3287166"/>
            <a:ext cx="457200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0725" y="3339554"/>
            <a:ext cx="41910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00725" y="3653879"/>
            <a:ext cx="41910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725" y="3968204"/>
            <a:ext cx="41910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00675" y="4282529"/>
            <a:ext cx="819150" cy="161925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5" y="2772816"/>
            <a:ext cx="114300" cy="15240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3425" y="2977604"/>
          <a:ext cx="5486399" cy="15335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66342"/>
                <a:gridCol w="2110085"/>
                <a:gridCol w="1209972"/>
              </a:tblGrid>
              <a:tr h="30670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Feature /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Observed Result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Launch in Browser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UI opens without error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Status Toggle Selection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Present/Absent active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Summary Math Update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Counts update real-time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Storage / Search / Batch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Implemented in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1268075" y="758130"/>
            <a:ext cx="676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13 /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During our initial testing, the application opened reliably, status selections updated immediately, and the arithmetic rate matched our 16.67% formula. Additional features remain pending full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9100"/>
            <a:ext cx="7155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VERIFICATION &amp;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09600"/>
            <a:ext cx="7513439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Functionality Demonstration &amp; Initial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663279"/>
            <a:ext cx="7200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Test Case Execution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6575" y="2744241"/>
            <a:ext cx="5305425" cy="2000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Tested Calculation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6575" y="3039516"/>
            <a:ext cx="5305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4532D"/>
                </a:solidFill>
                <a:latin typeface="Plus Jakarta Sans"/>
              </a:rPr>
              <a:t>Test Scenario:</a:t>
            </a:r>
            <a:r>
              <a:rPr b="0" sz="975" i="0" u="none">
                <a:solidFill>
                  <a:srgbClr val="14532D"/>
                </a:solidFill>
                <a:latin typeface="Plus Jakarta Sans"/>
              </a:rPr>
              <a:t> 6 Total Students • 1 Marked Present • 1 Marked Absent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6575" y="4144416"/>
            <a:ext cx="4667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"/>
              </a:rPr>
              <a:t>Verified that UI figures dynamically match theoretical arithmetic without decimal clipping issues.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3410991"/>
            <a:ext cx="5181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Formula Applied: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0400" y="3591966"/>
            <a:ext cx="5181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monospace"/>
              </a:rPr>
              <a:t>Rate = (Present Count / Total Students) ×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0400" y="3772941"/>
            <a:ext cx="5181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6534"/>
                </a:solidFill>
                <a:latin typeface="monospace"/>
              </a:rPr>
              <a:t>(1 / 6) × 100 = 16.67% → Displays ~17%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1675" y="3358604"/>
            <a:ext cx="361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825" i="0" u="none">
                <a:solidFill>
                  <a:srgbClr val="166534"/>
                </a:solidFill>
                <a:latin typeface="Plus Jakarta Sans"/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1675" y="3672929"/>
            <a:ext cx="361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825" i="0" u="none">
                <a:solidFill>
                  <a:srgbClr val="166534"/>
                </a:solidFill>
                <a:latin typeface="Plus Jakarta Sans"/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1675" y="3987254"/>
            <a:ext cx="361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825" i="0" u="none">
                <a:solidFill>
                  <a:srgbClr val="166534"/>
                </a:solidFill>
                <a:latin typeface="Plus Jakarta Sans"/>
              </a:rP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1625" y="4301579"/>
            <a:ext cx="7620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825" i="0" u="none">
                <a:solidFill>
                  <a:srgbClr val="92400E"/>
                </a:solidFill>
                <a:latin typeface="Plus Jakarta Sans"/>
              </a:rPr>
              <a:t>PENDING QA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882878"/>
            <a:ext cx="11125200" cy="556021"/>
          </a:xfrm>
          <a:prstGeom prst="roundRect">
            <a:avLst>
              <a:gd name="adj" fmla="val 102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625179"/>
            <a:ext cx="5429250" cy="1924050"/>
          </a:xfrm>
          <a:prstGeom prst="roundRect">
            <a:avLst>
              <a:gd name="adj" fmla="val 594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625179"/>
            <a:ext cx="5429250" cy="1924050"/>
          </a:xfrm>
          <a:prstGeom prst="roundRect">
            <a:avLst>
              <a:gd name="adj" fmla="val 594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8828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5882878"/>
            <a:ext cx="38100" cy="5560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5882878"/>
            <a:ext cx="9525" cy="5560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872829"/>
            <a:ext cx="16192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872829"/>
            <a:ext cx="180975" cy="161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68075" y="758130"/>
            <a:ext cx="676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14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6098976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SPEAKER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282" y="5987653"/>
            <a:ext cx="99006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Being an early-stage prototype, our project relies on local storage and dummy records. In future iterations, we plan to connect a centralized database, implement authentication, and support PDF report generation.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19100"/>
            <a:ext cx="5738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ANALYSIS &amp;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09600"/>
            <a:ext cx="6025753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Limitations &amp; 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2844254"/>
            <a:ext cx="6550818" cy="209550"/>
          </a:xfrm>
          <a:prstGeom prst="rect">
            <a:avLst/>
          </a:prstGeom>
          <a:noFill/>
        </p:spPr>
        <p:txBody>
          <a:bodyPr wrap="none" lIns="2381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9A3412"/>
                </a:solidFill>
                <a:latin typeface="Plus Jakarta Sans"/>
              </a:rPr>
              <a:t>Current Prototype 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2844254"/>
            <a:ext cx="5743575" cy="20955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66534"/>
                </a:solidFill>
                <a:latin typeface="Plus Jakarta Sans"/>
              </a:rPr>
              <a:t>Planned Future Enhancements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3168104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2D12"/>
                </a:solidFill>
                <a:latin typeface="Plus Jakarta Sans"/>
              </a:rPr>
              <a:t>• Employs dummy sample data (Students A–F)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3415754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2D12"/>
                </a:solidFill>
                <a:latin typeface="Plus Jakarta Sans"/>
              </a:rPr>
              <a:t>• Restricted to local browser storage without a remote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3663404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2D12"/>
                </a:solidFill>
                <a:latin typeface="Plus Jakarta Sans"/>
              </a:rPr>
              <a:t>• Absence of user login and role-based permissions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3911054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2D12"/>
                </a:solidFill>
                <a:latin typeface="Plus Jakarta Sans"/>
              </a:rPr>
              <a:t>• Previously saved logs cannot be edited in the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4158704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C2D12"/>
                </a:solidFill>
                <a:latin typeface="Plus Jakarta Sans"/>
              </a:rPr>
              <a:t>• Secondary utility features require complete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3168104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 Connect to a Node.js backend and relational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415754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 Implement faculty and student authentication (JWT)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3663404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 Add record modification and semester attendance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3911054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 Generate automated Excel / PDF exportable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4158704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• Deploy cloud synchronization and backup mechanisms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04444"/>
            <a:ext cx="10972800" cy="371475"/>
          </a:xfrm>
          <a:prstGeom prst="roundRect">
            <a:avLst>
              <a:gd name="adj" fmla="val 2051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06529"/>
            <a:ext cx="10972800" cy="556021"/>
          </a:xfrm>
          <a:prstGeom prst="roundRect">
            <a:avLst>
              <a:gd name="adj" fmla="val 1027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85962" y="2916584"/>
            <a:ext cx="8220075" cy="781050"/>
          </a:xfrm>
          <a:prstGeom prst="roundRect">
            <a:avLst>
              <a:gd name="adj" fmla="val 12195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35302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806529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806529"/>
            <a:ext cx="38100" cy="55602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72875" y="5806529"/>
            <a:ext cx="9525" cy="55602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43312" y="3097559"/>
            <a:ext cx="9525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72312" y="3097559"/>
            <a:ext cx="9525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95300"/>
            <a:ext cx="36838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PROJECT RETROSPECTIVE &amp;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1875" y="495300"/>
            <a:ext cx="676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15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9881" y="1716434"/>
            <a:ext cx="3272088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7437" y="2459384"/>
            <a:ext cx="74771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Questions, Suggestions &amp; Faculty Feedback are Warmly Welcomed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718744"/>
            <a:ext cx="27741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• Developed using HTML, CSS &amp; Vanilla 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8700" y="4718744"/>
            <a:ext cx="2559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• Managed with Agile SDLC on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850" y="4718744"/>
            <a:ext cx="3357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• Validated core status &amp; percentage calculations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6022627"/>
            <a:ext cx="115788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8BDF8"/>
                </a:solidFill>
                <a:latin typeface="Plus Jakarta Sans"/>
              </a:rPr>
              <a:t>SPEAKER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7482" y="5911304"/>
            <a:ext cx="974824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To conclude, our mini-project provided valuable practical experience in front-end development and Agile methodologies. Thank you faculty members for your time and guidance. We are ready for your questions.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5512" y="3097559"/>
            <a:ext cx="12477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Plus Jakarta Sans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450" y="3097559"/>
            <a:ext cx="3514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Plus Jakarta Sans"/>
              </a:rPr>
              <a:t>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550" y="3097559"/>
            <a:ext cx="3133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Plus Jakarta Sans"/>
              </a:rPr>
              <a:t>Department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5512" y="3316634"/>
            <a:ext cx="1247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TEAM TITANS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4028" y="3316634"/>
            <a:ext cx="3417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Plus Jakarta Sans"/>
              </a:rPr>
              <a:t>S. Lavanya • S. Madhumitha • M. Kavitha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1128" y="3316634"/>
            <a:ext cx="3036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E2E8F0"/>
                </a:solidFill>
                <a:latin typeface="Plus Jakarta Sans"/>
              </a:rPr>
              <a:t>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